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73" r:id="rId5"/>
    <p:sldId id="274" r:id="rId6"/>
    <p:sldId id="261" r:id="rId7"/>
    <p:sldId id="277" r:id="rId8"/>
    <p:sldId id="262" r:id="rId9"/>
    <p:sldId id="276" r:id="rId10"/>
    <p:sldId id="263" r:id="rId11"/>
    <p:sldId id="275" r:id="rId12"/>
    <p:sldId id="265" r:id="rId13"/>
    <p:sldId id="266" r:id="rId14"/>
    <p:sldId id="267" r:id="rId15"/>
    <p:sldId id="268" r:id="rId16"/>
    <p:sldId id="278" r:id="rId17"/>
    <p:sldId id="269" r:id="rId18"/>
    <p:sldId id="270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283C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388" autoAdjust="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Precision@5</c:v>
                </c:pt>
              </c:strCache>
            </c:strRef>
          </c:tx>
          <c:spPr>
            <a:solidFill>
              <a:srgbClr val="283C9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1C2A7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Ventes</c:v>
                </c:pt>
                <c:pt idx="1">
                  <c:v>Facturation</c:v>
                </c:pt>
                <c:pt idx="2">
                  <c:v>Inventaire</c:v>
                </c:pt>
                <c:pt idx="3">
                  <c:v>CRM</c:v>
                </c:pt>
                <c:pt idx="4">
                  <c:v>Achats</c:v>
                </c:pt>
                <c:pt idx="5">
                  <c:v>Comptabilité</c:v>
                </c:pt>
                <c:pt idx="6">
                  <c:v>Fabrication</c:v>
                </c:pt>
                <c:pt idx="7">
                  <c:v>Projet</c:v>
                </c:pt>
                <c:pt idx="8">
                  <c:v>RH / Paie</c:v>
                </c:pt>
                <c:pt idx="9">
                  <c:v>Qualité</c:v>
                </c:pt>
                <c:pt idx="10">
                  <c:v>Maintenance</c:v>
                </c:pt>
                <c:pt idx="11">
                  <c:v>Barcode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0.96699999999999997</c:v>
                </c:pt>
                <c:pt idx="1">
                  <c:v>[phone redacted]00000002</c:v>
                </c:pt>
                <c:pt idx="2">
                  <c:v>0.8</c:v>
                </c:pt>
                <c:pt idx="3">
                  <c:v>[phone redacted]00000004</c:v>
                </c:pt>
                <c:pt idx="4">
                  <c:v>0.92</c:v>
                </c:pt>
                <c:pt idx="5">
                  <c:v>0.92</c:v>
                </c:pt>
                <c:pt idx="6">
                  <c:v>0.84</c:v>
                </c:pt>
                <c:pt idx="7">
                  <c:v>0.8</c:v>
                </c:pt>
                <c:pt idx="8">
                  <c:v>0.96</c:v>
                </c:pt>
                <c:pt idx="9">
                  <c:v>0.8</c:v>
                </c:pt>
                <c:pt idx="10">
                  <c:v>0.76</c:v>
                </c:pt>
                <c:pt idx="11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C0-41BA-A9C6-33D7E120DF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1C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6E9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67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730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Bonjour, Monsieur le Président, Messieurs les membres du jury. Je suis Adam El </a:t>
            </a:r>
            <a:r>
              <a:rPr lang="fr-FR" dirty="0" err="1"/>
              <a:t>Akkaoui</a:t>
            </a:r>
            <a:r>
              <a:rPr lang="fr-FR" dirty="0"/>
              <a:t>, en Master Ingénierie des Systèmes Intelligents. Mon projet de fin d'études, réalisé chez </a:t>
            </a:r>
            <a:r>
              <a:rPr lang="fr-FR" dirty="0" err="1"/>
              <a:t>Maxware</a:t>
            </a:r>
            <a:r>
              <a:rPr lang="fr-FR" dirty="0"/>
              <a:t> </a:t>
            </a:r>
            <a:r>
              <a:rPr lang="fr-FR" dirty="0" err="1"/>
              <a:t>Technology</a:t>
            </a:r>
            <a:r>
              <a:rPr lang="fr-FR" dirty="0"/>
              <a:t>, porte sur un système multi-agent intelligent pour l'assistance contextuelle des utilisateurs dans Odoo. Je vais présenter rapidement le contexte, l'architecture, la réalisation, les résultats, une démonstration, puis conclure.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None/>
            </a:pPr>
            <a:r>
              <a:rPr lang="fr-FR" dirty="0"/>
              <a:t>Les ERP comme Odoo (Progiciel de gestion intégré) centralisent aujourd'hui toute la gestion de l'entreprise et orchestre les processus métiers.</a:t>
            </a:r>
          </a:p>
          <a:p>
            <a:pPr>
              <a:buFont typeface="Arial"/>
              <a:buNone/>
            </a:pPr>
            <a:r>
              <a:rPr lang="fr-FR" dirty="0"/>
              <a:t>Odoo est une solution open source et modulaire : plus de 30 000 modules et un framework OWL en version 19.</a:t>
            </a:r>
          </a:p>
          <a:p>
            <a:pPr>
              <a:buFont typeface="Arial"/>
              <a:buNone/>
            </a:pPr>
            <a:r>
              <a:rPr lang="fr-FR" dirty="0"/>
              <a:t>Malgré cette richesse, on observe un fossé d'usage entre les fonctionnalités disponibles et leur adoption réelle.</a:t>
            </a:r>
          </a:p>
          <a:p>
            <a:pPr>
              <a:buFont typeface="Arial"/>
              <a:buNone/>
            </a:pPr>
            <a:r>
              <a:rPr lang="fr-FR" dirty="0"/>
              <a:t>D'où l'émergence de l'ERP agentique, qui place des agents intelligents au service des utilisateurs.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None/>
            </a:pPr>
            <a:r>
              <a:rPr lang="fr-FR" dirty="0"/>
              <a:t>Première douleur : une courbe d'apprentissage abrupte qui décourage les nouveaux utilisateurs.</a:t>
            </a:r>
          </a:p>
          <a:p>
            <a:pPr>
              <a:buFont typeface="Arial"/>
              <a:buNone/>
            </a:pPr>
            <a:r>
              <a:rPr lang="fr-FR" dirty="0"/>
              <a:t>Deuxième : une navigation complexe entre les nombreux modules de l'ERP.</a:t>
            </a:r>
          </a:p>
          <a:p>
            <a:pPr>
              <a:buFont typeface="Arial"/>
              <a:buNone/>
            </a:pPr>
            <a:r>
              <a:rPr lang="fr-FR" dirty="0"/>
              <a:t>Troisième : une documentation dispersée, difficile à retrouver et à mobiliser.</a:t>
            </a:r>
          </a:p>
          <a:p>
            <a:pPr>
              <a:buFont typeface="Arial"/>
              <a:buNone/>
            </a:pPr>
            <a:r>
              <a:rPr lang="fr-FR" dirty="0"/>
              <a:t>Quatrième : l'absence d'assistance contextuelle directement dans l'interface.</a:t>
            </a:r>
          </a:p>
          <a:p>
            <a:pPr>
              <a:buFont typeface="Arial"/>
              <a:buNone/>
            </a:pPr>
            <a:r>
              <a:rPr lang="fr-FR" dirty="0"/>
              <a:t>Cinquième : un support réactif plutôt que proactif. Au total, ces cinq freins se traduisent par une adoption lente.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None/>
            </a:pPr>
            <a:r>
              <a:rPr lang="fr-FR" dirty="0"/>
              <a:t>L'objectif : concevoir un système multi-agent intégré nativement à Odoo 19, autour de cinq capacités: compréhension contextuelle, guidage visuel superposé à l'interface réelle, formation adaptative par répétition espacée SM-2, documentation ancrée via un pipeline RAG, et support multilingue et vocal. Ces capacités s'appuient sur huit agents spécialisés, chacun couvrant un besoin précis.</a:t>
            </a:r>
          </a:p>
          <a:p>
            <a:pPr>
              <a:buFont typeface="Arial"/>
              <a:buNone/>
            </a:pPr>
            <a:r>
              <a:rPr lang="fr-FR" dirty="0"/>
              <a:t>Finalité : accélérer l'adoption, réduire la charge de support et rendre les utilisateurs plus autonomes.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Face aux </a:t>
            </a:r>
            <a:r>
              <a:rPr lang="fr-FR" dirty="0" err="1"/>
              <a:t>chatbots</a:t>
            </a:r>
            <a:r>
              <a:rPr lang="fr-FR" dirty="0"/>
              <a:t> classiques, aux assistants LLM génériques et même aux copilotes IA des grands éditeurs comme SAP ou Salesforce, notre système est le seul à combiner guidage visuel, formation adaptative et architecture multi-agent, nativement, dans un ERP open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Voici l'architecture, documentée selon le modèle C4. Au niveau contexte, l'utilisateur et l'administrateur interagissent avec le système, qui s'appuie sur Odoo et des services externes — LLM, YouTube, </a:t>
            </a:r>
            <a:r>
              <a:rPr lang="fr-FR" dirty="0" err="1"/>
              <a:t>DeepL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Au niveau conteneurs : un frontend OWL pour l'avatar et le guidage, un proxy sécurisé qui protège la clé API, un backend </a:t>
            </a:r>
            <a:r>
              <a:rPr lang="fr-FR" dirty="0" err="1"/>
              <a:t>FastAPI</a:t>
            </a:r>
            <a:r>
              <a:rPr lang="fr-FR" dirty="0"/>
              <a:t> qui héberge les huit agents via </a:t>
            </a:r>
            <a:r>
              <a:rPr lang="fr-FR" dirty="0" err="1"/>
              <a:t>LangGraph</a:t>
            </a:r>
            <a:r>
              <a:rPr lang="fr-FR" dirty="0"/>
              <a:t>, et une couche de données Redis et </a:t>
            </a:r>
            <a:r>
              <a:rPr lang="fr-FR" dirty="0" err="1"/>
              <a:t>ChromaDB</a:t>
            </a:r>
            <a:r>
              <a:rPr lang="fr-FR" dirty="0"/>
              <a:t> pour le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niveau composants détaille cette couche agents et les composants transversaux qu'ils partagent.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Ces huit agents se répartissent les rôles : l'orchestrateur ne traite rien lui-même, il route et coordonne — via le graphe d'états LangGraph — vers sept agents spécialisés : le </a:t>
            </a:r>
            <a:r>
              <a:rPr lang="fr-FR" dirty="0" err="1"/>
              <a:t>Context</a:t>
            </a:r>
            <a:r>
              <a:rPr lang="fr-FR" dirty="0"/>
              <a:t> Agent analyse la position de l'utilisateur dans l'interface, le Guide Agent produit le guidage pas-à-pas, le Doc Agent (documentation RAG et vidéos), le Learn Agent (formation SM-2), le Lang Agent le multilingue et la voix, l'Analytics Agent la télémétrie, et le </a:t>
            </a:r>
            <a:r>
              <a:rPr lang="fr-FR" dirty="0" err="1"/>
              <a:t>Predict</a:t>
            </a:r>
            <a:r>
              <a:rPr lang="fr-FR" dirty="0"/>
              <a:t> Agent les suggestions proactives.</a:t>
            </a:r>
          </a:p>
          <a:p>
            <a:r>
              <a:rPr lang="fr-FR" dirty="0"/>
              <a:t>Chaque agent partage une mémoire Redis, un registre d'outils et un parsing structuré de la sortie LLM, avec une boucle ReAct optionnelle. Cette séparation des responsabilités rend le système extensible : ajouter une capacité, c'est ajouter un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None/>
            </a:pPr>
            <a:r>
              <a:rPr lang="fr-FR" dirty="0"/>
              <a:t>Techniquement : un Frontend OWL natif à Odoo 19 pour l'interface, Lottie pour les animations et SSE pour le streaming en temps réel.</a:t>
            </a:r>
          </a:p>
          <a:p>
            <a:pPr>
              <a:buFont typeface="Arial"/>
              <a:buNone/>
            </a:pPr>
            <a:r>
              <a:rPr lang="fr-FR" dirty="0"/>
              <a:t>Un backend Python </a:t>
            </a:r>
            <a:r>
              <a:rPr lang="fr-FR" dirty="0" err="1"/>
              <a:t>FastAPI</a:t>
            </a:r>
            <a:r>
              <a:rPr lang="fr-FR" dirty="0"/>
              <a:t> avec </a:t>
            </a:r>
            <a:r>
              <a:rPr lang="fr-FR" dirty="0" err="1"/>
              <a:t>LangChain</a:t>
            </a:r>
            <a:r>
              <a:rPr lang="fr-FR" dirty="0"/>
              <a:t> et </a:t>
            </a:r>
            <a:r>
              <a:rPr lang="fr-FR" dirty="0" err="1"/>
              <a:t>LangGraph</a:t>
            </a:r>
            <a:r>
              <a:rPr lang="fr-FR" dirty="0"/>
              <a:t>,.</a:t>
            </a:r>
          </a:p>
          <a:p>
            <a:pPr>
              <a:buFont typeface="Arial"/>
              <a:buNone/>
            </a:pPr>
            <a:r>
              <a:rPr lang="fr-FR" dirty="0"/>
              <a:t>Couche IA : NVIDIA NIM comme fournisseur LLM par défaut mais une architecture </a:t>
            </a:r>
            <a:r>
              <a:rPr lang="fr-FR" dirty="0" err="1"/>
              <a:t>multi-fournisseur</a:t>
            </a:r>
            <a:r>
              <a:rPr lang="fr-FR" dirty="0"/>
              <a:t>, Redis et </a:t>
            </a:r>
            <a:r>
              <a:rPr lang="fr-FR" dirty="0" err="1"/>
              <a:t>ChromaDB</a:t>
            </a:r>
            <a:r>
              <a:rPr lang="fr-FR" dirty="0"/>
              <a:t> pour les données, le tout conteneurisé sous Docker et </a:t>
            </a:r>
            <a:r>
              <a:rPr lang="fr-FR" dirty="0" err="1"/>
              <a:t>Kubernetes</a:t>
            </a:r>
            <a:r>
              <a:rPr lang="fr-FR" dirty="0"/>
              <a:t> avec intégration continue GitHub Actions.</a:t>
            </a:r>
          </a:p>
          <a:p>
            <a:pPr>
              <a:buFont typeface="Arial"/>
              <a:buNone/>
            </a:pPr>
            <a:r>
              <a:rPr lang="fr-FR" dirty="0"/>
              <a:t>Principes d'architecture : sans état, circuit breaker, rate-limiting et journalisation d'audit.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Concrètement, le système offre un guidage visuel ancré directement sur les vrais champs de l'interface, sans configuration préalable, grâce à l'ancrage par introspection du modèle Odoo. Plutôt que de coder en dur des sélecteurs, le guidage interroge le schéma réel du modèle via fields_get et get_view (point d'accès /maxware/introspect, dans le respect des droits de l'utilisateur).</a:t>
            </a:r>
          </a:p>
          <a:p>
            <a:r>
              <a:rPr lang="fr-FR" dirty="0"/>
              <a:t>Il en dérive les sélecteurs DOM exacts des vrais champs et boutons, pour n'importe quel module — y compris les modules développés en interne par l'entreprise — et sans aucune configuration préalable. Conséquence : aucune hallucination, car un sélecteur n'est jamais inventé mais toujours dérivé du schéma ; une étape qui référencerait un champ inexistant est rejetée.</a:t>
            </a:r>
          </a:p>
          <a:p>
            <a:r>
              <a:rPr lang="fr-FR" dirty="0"/>
              <a:t>Un mode démonstration exécute une séquence pas-à-pas, en lecture seule. La formation s'appuie sur l'algorithme SM-2, la documentation sur un pipeline RAG avec anti-hallucination. Le streaming SSE délivre un premier signal en 0,2 seconde. Et le système détecte automatiquement les erreurs Odoo pour proposer un diagnostic ciblé.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système est validé par 294 tests automatisés, dont 289 réussis, avec 67 % de couverture de code, et cinq flux testés de bout en bout en conditions réelles avec </a:t>
            </a:r>
            <a:r>
              <a:rPr lang="fr-FR" dirty="0" err="1"/>
              <a:t>Playwright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Côté performance, le cache Redis et le guidage déterministe ramènent la latence à quasi zéro pour les cas connus.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Et le pipeline RAG atteint une </a:t>
            </a:r>
            <a:r>
              <a:rPr lang="fr-FR" dirty="0" err="1"/>
              <a:t>Precision</a:t>
            </a:r>
            <a:r>
              <a:rPr lang="fr-FR" dirty="0"/>
              <a:t> at 5 de 0,843 et un MRR de 0,973 sur douze modules Odoo — l'objectif de 0,75 est dépassé sur onze modules sur douze.</a:t>
            </a:r>
          </a:p>
          <a:p>
            <a:r>
              <a:rPr lang="fr-FR" dirty="0"/>
              <a:t>le bon document est presque toujours en tête,</a:t>
            </a:r>
          </a:p>
          <a:p>
            <a:r>
              <a:rPr lang="fr-FR" dirty="0"/>
              <a:t>seul le CRM reste sous le seuil (0,667) ; c'est le seul axe d'amélioration ciblé du pipeline, lié au vocabulaire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dirty="0"/>
              <a:t>Je vous propose maintenant une démonstration du système sur une instance Odoo réelle.</a:t>
            </a:r>
          </a:p>
          <a:p>
            <a:pPr rtl="0"/>
            <a:r>
              <a:rPr lang="fr-FR" b="0" dirty="0"/>
              <a:t>[VIDÉO — 5 à 7 min]</a:t>
            </a:r>
          </a:p>
          <a:p>
            <a:pPr rtl="0"/>
            <a:r>
              <a:rPr lang="fr-FR" dirty="0"/>
              <a:t>Vous venez de voir le guidage ancré sur l'interface réelle et la réactivité du système. Passons au bilan.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Bilan. Les cinq objectifs du cahier des charges sont atteints et les huit agents livrés et testés : le RAG validé, le streaming quasi instantané.</a:t>
            </a:r>
          </a:p>
          <a:p>
            <a:r>
              <a:rPr lang="fr-FR" dirty="0"/>
              <a:t>Côté limites : la montée en charge n'est pas encore testée expérimentalement, compatibilité Enterprise assurée par conception mais à certifier, le module CRM du RAG reste sous l'objectif de précision, et la génération des QCM prend encore 8 à 15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conclusion, l'objectif est atteint : Odoo passe d'un outil que l'on subit à un environnement qui guide, démontre et forme activement l'utilisateur. Les perspectives incluent l'industrialisation en production sur </a:t>
            </a:r>
            <a:r>
              <a:rPr lang="fr-FR" dirty="0" err="1"/>
              <a:t>Kubernetes</a:t>
            </a:r>
            <a:r>
              <a:rPr lang="fr-FR" dirty="0"/>
              <a:t>, des actions agentiques d'écriture sous contrôle, une évaluation UX complète, et l'ouverture vers d'autres canaux comme Slack </a:t>
            </a:r>
            <a:r>
              <a:rPr lang="fr-FR"/>
              <a:t>ou Teams,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7.png"/><Relationship Id="rId5" Type="http://schemas.openxmlformats.org/officeDocument/2006/relationships/image" Target="../media/image25.png"/><Relationship Id="rId10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1910" y="401528"/>
            <a:ext cx="2302463" cy="695147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" name="Image 0" descr="assets/uit_log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55557" y="466798"/>
            <a:ext cx="1933911" cy="5177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26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Ibn Tofaïl  —  Faculté des Sciences, Kénitra  ·  Département d'Informatique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755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FIN D'ÉTUDES  ·  FILIÈRE INGÉNIERIE DES SYSTÈMES INTELLIGENTS (ISI)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34924" y="2260201"/>
            <a:ext cx="7987937" cy="1144306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Développement d'un Système Multi-Agent Intelligent pour l'Assistance Contextuelle des Utilisateurs dans la Plateforme Odoo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9090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1833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à l'université par :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Ali Choukri</a:t>
            </a:r>
            <a:r>
              <a:rPr lang="en-US" sz="1100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Encadré à l'entreprise par :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Youssef Chadi — Maxware Technology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4394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: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</a:t>
            </a:r>
            <a:r>
              <a:rPr lang="en-US" sz="11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Abdelalim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Sadiq ·  Pr. Tarik El </a:t>
            </a:r>
            <a:r>
              <a:rPr lang="en-US" sz="11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Moudden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Pr. Ali Choukri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7503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Soutenu le 29 / 07 / 2026     ·     Année universitaire 2025 – 2026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84421B9F-F0CD-269D-0729-36C01384F502}"/>
              </a:ext>
            </a:extLst>
          </p:cNvPr>
          <p:cNvSpPr/>
          <p:nvPr/>
        </p:nvSpPr>
        <p:spPr>
          <a:xfrm>
            <a:off x="5927137" y="401528"/>
            <a:ext cx="2302463" cy="695147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8ED16B6-3412-E33C-67A1-B5EED54C6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381" y="466879"/>
            <a:ext cx="2175974" cy="564443"/>
          </a:xfrm>
          <a:prstGeom prst="rect">
            <a:avLst/>
          </a:prstGeom>
          <a:solidFill>
            <a:srgbClr val="FFFFFF"/>
          </a:solidFill>
          <a:ln/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280160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86384" y="14630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86384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89888" y="13898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général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Odoo et l'ERP agentique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130552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86384" y="23134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86384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389888" y="22402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fossé d'utilisabilité visé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2980944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86384" y="316382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86384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389888" y="30906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 &amp; positionnement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existantes vs notre approche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3831336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86384" y="401421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86384" y="4014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89888" y="39410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multi-agent (modèle C4)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09160" y="1280160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4855464" y="14630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4855464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458968" y="13898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&amp; fonctionnalités clés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709160" y="2130552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4855464" y="23134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4855464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458968" y="22402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évaluation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performance, RAG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709160" y="2980944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4855464" y="316382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4855464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5458968" y="30906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 err="1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050" dirty="0" err="1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</a:t>
            </a:r>
            <a:endParaRPr lang="en-US" sz="1400" dirty="0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F6E7D33D-01BD-86FE-B006-8B2734C30FFA}"/>
              </a:ext>
            </a:extLst>
          </p:cNvPr>
          <p:cNvSpPr/>
          <p:nvPr/>
        </p:nvSpPr>
        <p:spPr>
          <a:xfrm>
            <a:off x="4709160" y="3831336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21CD36D2-9BDE-F25A-795D-CBD36AC08724}"/>
              </a:ext>
            </a:extLst>
          </p:cNvPr>
          <p:cNvSpPr/>
          <p:nvPr/>
        </p:nvSpPr>
        <p:spPr>
          <a:xfrm>
            <a:off x="4855464" y="401421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55C164C8-F55D-2373-2B1F-28EEBF819A45}"/>
              </a:ext>
            </a:extLst>
          </p:cNvPr>
          <p:cNvSpPr/>
          <p:nvPr/>
        </p:nvSpPr>
        <p:spPr>
          <a:xfrm>
            <a:off x="4855464" y="4014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0FC6CD22-C290-13C5-B3[phone redacted]4144}"/>
              </a:ext>
            </a:extLst>
          </p:cNvPr>
          <p:cNvSpPr/>
          <p:nvPr/>
        </p:nvSpPr>
        <p:spPr>
          <a:xfrm>
            <a:off x="5458968" y="39410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limites et travaux futurs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général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3258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ERP au cœur du SI de l'entreprise</a:t>
            </a:r>
            <a:endParaRPr lang="en-US" sz="1350" dirty="0"/>
          </a:p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Oracle, Microsoft Dynamics 365… et Odoo.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: open source et modulaire</a:t>
            </a:r>
            <a:endParaRPr lang="en-US" sz="1350" dirty="0"/>
          </a:p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30 000 modules ; framework OWL (version 19).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fossé d'usage</a:t>
            </a:r>
            <a:endParaRPr lang="en-US" sz="1350" dirty="0"/>
          </a:p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statiques → courbe d'apprentissage abrupte et surcharge cognitive.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L'émergence de l'ERP agentique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multi-agents + LLM : percevoir, guider et agir.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532120" y="141732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23560" y="1527048"/>
            <a:ext cx="288036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30 000+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669280" y="2239366"/>
            <a:ext cx="278892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disponibles dans l'écosystème Odoo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32120" y="3035808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760720" y="32004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chatbot passif…</a:t>
            </a:r>
            <a:endParaRPr lang="en-US" sz="12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…à un assistant qui guide, démontre et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directement sur l'interface.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5695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 : un fossé d'utilisabilité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298448"/>
            <a:ext cx="438912" cy="438912"/>
          </a:xfrm>
          <a:prstGeom prst="ellipse">
            <a:avLst/>
          </a:prstGeom>
          <a:solidFill>
            <a:srgbClr val="EEF1FB"/>
          </a:solidFill>
          <a:ln w="15875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898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25272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d'apprentissage  </a:t>
            </a: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Plusieurs mois pour maîtriser les fonctions de base.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1901952"/>
            <a:ext cx="438912" cy="438912"/>
          </a:xfrm>
          <a:prstGeom prst="ellipse">
            <a:avLst/>
          </a:prstGeom>
          <a:solidFill>
            <a:srgbClr val="EEF1FB"/>
          </a:solidFill>
          <a:ln w="15875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99339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18562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complexe  </a:t>
            </a: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Interfaces denses, multiples menus → surcharge cognitive.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2505456"/>
            <a:ext cx="438912" cy="438912"/>
          </a:xfrm>
          <a:prstGeom prst="ellipse">
            <a:avLst/>
          </a:prstGeom>
          <a:solidFill>
            <a:srgbClr val="EEF1FB"/>
          </a:solidFill>
          <a:ln w="15875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59689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245973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dispersée  </a:t>
            </a: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Wikis, forums, vidéos : information non contextuelle.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3108960"/>
            <a:ext cx="438912" cy="438912"/>
          </a:xfrm>
          <a:prstGeom prst="ellipse">
            <a:avLst/>
          </a:prstGeom>
          <a:solidFill>
            <a:srgbClr val="EEF1FB"/>
          </a:solidFill>
          <a:ln w="15875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20040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06324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assistance contextuelle  </a:t>
            </a: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L'utilisateur est seul face aux erreurs et tâches complexes.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40080" y="3712464"/>
            <a:ext cx="438912" cy="438912"/>
          </a:xfrm>
          <a:prstGeom prst="ellipse">
            <a:avLst/>
          </a:prstGeom>
          <a:solidFill>
            <a:srgbClr val="EEF1FB"/>
          </a:solidFill>
          <a:ln w="15875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80390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4440" y="3666744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réactif  </a:t>
            </a: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 intervient après le problème, jamais en prévention.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640080" y="4370832"/>
            <a:ext cx="8001000" cy="384048"/>
          </a:xfrm>
          <a:prstGeom prst="roundRect">
            <a:avLst>
              <a:gd name="adj" fmla="val 14286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5"/>
          <p:cNvSpPr/>
          <p:nvPr/>
        </p:nvSpPr>
        <p:spPr>
          <a:xfrm>
            <a:off x="822960" y="43708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</a:t>
            </a: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lente, fonctionnalités sous-utilisées, productivité bridée.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874198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261872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 un </a:t>
            </a:r>
            <a:r>
              <a:rPr lang="en-US" sz="14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Intelligent</a:t>
            </a:r>
            <a:r>
              <a:rPr lang="en-US" sz="14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intégré nativement à Odoo 19, autour de cinq capacités 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847088"/>
            <a:ext cx="258775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786384" y="2011680"/>
            <a:ext cx="457200" cy="45720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46704" y="1847088"/>
            <a:ext cx="258775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493008" y="2011680"/>
            <a:ext cx="457200" cy="45720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053328" y="1847088"/>
            <a:ext cx="258775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6199632" y="2011680"/>
            <a:ext cx="457200" cy="45720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258775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786384" y="3364992"/>
            <a:ext cx="457200" cy="45720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3346704" y="3200400"/>
            <a:ext cx="258775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3493008" y="3364992"/>
            <a:ext cx="457200" cy="45720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053328" y="3200400"/>
            <a:ext cx="258775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199632" y="3364992"/>
            <a:ext cx="457200" cy="45720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112264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16736" y="1975104"/>
            <a:ext cx="1801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contextuelle</a:t>
            </a:r>
            <a:endParaRPr lang="en-US" sz="13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de la position dans l'interface.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211226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023360" y="1975104"/>
            <a:ext cx="1801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Guidage visuel</a:t>
            </a:r>
            <a:endParaRPr lang="en-US" sz="13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Superposé à </a:t>
            </a:r>
            <a:r>
              <a:rPr lang="en-US" sz="1050" dirty="0" err="1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l'UI</a:t>
            </a: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</a:t>
            </a: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211226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29984" y="1975104"/>
            <a:ext cx="1801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adaptative</a:t>
            </a:r>
            <a:endParaRPr lang="en-US" sz="13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+ répétition espacée SM-2.</a:t>
            </a:r>
            <a:endParaRPr lang="en-US" sz="13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346557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16736" y="3328416"/>
            <a:ext cx="1801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intelligente</a:t>
            </a:r>
            <a:endParaRPr lang="en-US" sz="13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ancrées via pipeline RAG.</a:t>
            </a:r>
            <a:endParaRPr lang="en-US" sz="13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3465576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23360" y="3328416"/>
            <a:ext cx="1801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Multilinguisme &amp; voix</a:t>
            </a:r>
            <a:endParaRPr lang="en-US" sz="13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Détection, traduction, commandes vocales.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216" y="3465576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729984" y="3328416"/>
            <a:ext cx="1801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 spécialisés</a:t>
            </a:r>
            <a:endParaRPr lang="en-US" sz="13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Orchestrés par un graphe d'états.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30518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de l'art : positionnement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738207"/>
              </p:ext>
            </p:extLst>
          </p:nvPr>
        </p:nvGraphicFramePr>
        <p:xfrm>
          <a:off x="1143000" y="1371600"/>
          <a:ext cx="6858000" cy="237744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C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Guidage visuel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C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 adaptative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C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 traditionnels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Assistants LLM génériques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Joule / Salesforce Agentforce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Émergent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19 AI Agent (natif)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F6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Maxware — notre système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C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C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C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4224528"/>
            <a:ext cx="8001000" cy="512064"/>
          </a:xfrm>
          <a:prstGeom prst="roundRect">
            <a:avLst>
              <a:gd name="adj" fmla="val 10714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822960" y="4224528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contribution :  </a:t>
            </a:r>
            <a:r>
              <a:rPr lang="en-US" sz="11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seule combinaison guidage visuel + formation adaptative + multi-agent, nativement dans un ERP open source.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: C4 niveau 1 | contexte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21100" y="1149465"/>
            <a:ext cx="4960190" cy="3361542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563735" y="4570275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50" i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Diagramme C4 (niveau 1) : contexte du système</a:t>
            </a:r>
            <a:endParaRPr lang="en-US" sz="95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4728083-46B7-7DF2-F585-887FFC3C139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9209" y="1256615"/>
            <a:ext cx="4783971" cy="317951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A1D65EF-EDDA-20B2-B9D8-364D5274FA08}"/>
              </a:ext>
            </a:extLst>
          </p:cNvPr>
          <p:cNvSpPr txBox="1"/>
          <p:nvPr/>
        </p:nvSpPr>
        <p:spPr>
          <a:xfrm>
            <a:off x="5865962" y="1916273"/>
            <a:ext cx="3027872" cy="182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ct val="100000"/>
              </a:lnSpc>
              <a:buNone/>
              <a:defRPr sz="1500">
                <a:solidFill>
                  <a:srgbClr val="26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Contexte : les acteurs (utilisateur final, administrateur) interagissent avec le système multi-agent, qui s'appuie sur Odoo 19 et des services externes (LLM, YouTube, </a:t>
            </a:r>
            <a:r>
              <a:rPr lang="fr-FR" dirty="0" err="1"/>
              <a:t>DeepL</a:t>
            </a:r>
            <a:r>
              <a:rPr lang="fr-FR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27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: </a:t>
            </a:r>
            <a:r>
              <a:rPr lang="fr-FR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 niveau 2 | conteneurs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6045" y="1046988"/>
            <a:ext cx="5596842" cy="3442716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assets/architecture_c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8083" y="1179576"/>
            <a:ext cx="5312765" cy="31630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6706" y="453999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Diagramme C4 (niveau 2) : conteneurs du système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156672" y="1335024"/>
            <a:ext cx="27889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Odoo (OWL)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Avatar, chat et guidage visuel.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serveur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ACLs, clé API.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 via un graphe d'états LangGraph.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données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(cache, streams, sessions) + ChromaDB (vecteurs RAG).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externes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19, fournisseurs LLM (NIM, GPT, Claude, Ollama).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: C4 niveau 3 | composants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70432" y="869486"/>
            <a:ext cx="4574131" cy="3727272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930179" y="459028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50" i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Diagramme C4 (niveau 3) : composants de la couche agents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984142" y="1885358"/>
            <a:ext cx="2909691" cy="1657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1500" dirty="0">
                <a:solidFill>
                  <a:srgbClr val="26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: la couche des 8 agents, les composants transversaux (pipeline RAG, moteur de guidage visuel) et la couche données (Redis, </a:t>
            </a:r>
            <a:r>
              <a:rPr lang="fr-FR" sz="1500" dirty="0" err="1">
                <a:solidFill>
                  <a:srgbClr val="26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r>
              <a:rPr lang="fr-FR" sz="1500" dirty="0">
                <a:solidFill>
                  <a:srgbClr val="26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PostgreSQL).</a:t>
            </a:r>
            <a:endParaRPr lang="en-US" sz="1500" dirty="0">
              <a:solidFill>
                <a:srgbClr val="262322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73A99E8-EA4E-27E0-87B1-F8AF5C480DE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293317" y="932688"/>
            <a:ext cx="4348645" cy="356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20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Huit agents spécialisés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2588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280160" y="1490472"/>
            <a:ext cx="548640" cy="54864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" y="160934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207568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8368" y="23134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&amp; coordination (LangGraph)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651760" y="132588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364992" y="1490472"/>
            <a:ext cx="548640" cy="54864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160934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06624" y="207568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743200" y="23134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contexte UI (DOM, profil)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736592" y="132588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5449824" y="1490472"/>
            <a:ext cx="548640" cy="54864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696" y="1609344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91456" y="207568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828032" y="23134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&amp; guidage pas-à-pas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821424" y="132588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7534656" y="1490472"/>
            <a:ext cx="548640" cy="54864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1609344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76288" y="207568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912864" y="23134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RAG + vidéos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66928" y="2843784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1"/>
          <p:cNvSpPr/>
          <p:nvPr/>
        </p:nvSpPr>
        <p:spPr>
          <a:xfrm>
            <a:off x="1280160" y="3008376"/>
            <a:ext cx="548640" cy="54864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9032" y="3127248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21792" y="359359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658368" y="383133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adaptative (SM-2)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2651760" y="2843784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25"/>
          <p:cNvSpPr/>
          <p:nvPr/>
        </p:nvSpPr>
        <p:spPr>
          <a:xfrm>
            <a:off x="3364992" y="3008376"/>
            <a:ext cx="548640" cy="54864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3127248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706624" y="359359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2743200" y="383133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 &amp; indications vocales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4736592" y="2843784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29"/>
          <p:cNvSpPr/>
          <p:nvPr/>
        </p:nvSpPr>
        <p:spPr>
          <a:xfrm>
            <a:off x="5449824" y="3008376"/>
            <a:ext cx="548640" cy="54864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6" y="3127248"/>
            <a:ext cx="310896" cy="31089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791456" y="359359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4828032" y="383133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Télémétrie &amp; points de friction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6821424" y="2843784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Shape 33"/>
          <p:cNvSpPr/>
          <p:nvPr/>
        </p:nvSpPr>
        <p:spPr>
          <a:xfrm>
            <a:off x="7534656" y="3008376"/>
            <a:ext cx="548640" cy="548640"/>
          </a:xfrm>
          <a:prstGeom prst="ellipse">
            <a:avLst/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3528" y="3127248"/>
            <a:ext cx="310896" cy="31089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876288" y="359359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400" dirty="0"/>
          </a:p>
        </p:txBody>
      </p:sp>
      <p:sp>
        <p:nvSpPr>
          <p:cNvPr id="46" name="Text 35"/>
          <p:cNvSpPr/>
          <p:nvPr/>
        </p:nvSpPr>
        <p:spPr>
          <a:xfrm>
            <a:off x="6912864" y="383133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proactives</a:t>
            </a:r>
            <a:endParaRPr lang="en-US" sz="950" dirty="0"/>
          </a:p>
        </p:txBody>
      </p:sp>
      <p:sp>
        <p:nvSpPr>
          <p:cNvPr id="47" name="Text 36"/>
          <p:cNvSpPr/>
          <p:nvPr/>
        </p:nvSpPr>
        <p:spPr>
          <a:xfrm>
            <a:off x="566928" y="4370832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interne : </a:t>
            </a:r>
            <a:r>
              <a:rPr lang="en-US" sz="11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ReAct optionnelle, mémoire (Redis), registre d'outils, parsing structuré de la sortie LLM.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Réalisation : stack technique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298448"/>
            <a:ext cx="258775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94944" y="1435608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5361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1435608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49808" y="1920240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(Odoo 19)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Lottie (avatar 2D)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(fetch stream)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73552" y="1298448"/>
            <a:ext cx="258775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401568" y="1435608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153619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13632" y="1435608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56432" y="1920240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(async)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980176" y="1298448"/>
            <a:ext cx="258775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6108192" y="1435608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153619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20256" y="1435608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/ LLM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163056" y="1920240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(défaut)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Multi-fournisseur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(vecteurs)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6928" y="2907792"/>
            <a:ext cx="258775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694944" y="3044952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3145536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07008" y="304495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49808" y="3529584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(Odoo)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(RAG)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273552" y="2907792"/>
            <a:ext cx="258775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1"/>
          <p:cNvSpPr/>
          <p:nvPr/>
        </p:nvSpPr>
        <p:spPr>
          <a:xfrm>
            <a:off x="3401568" y="3044952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152" y="3145536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13632" y="304495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3456432" y="3529584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Prometheus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Playwright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5980176" y="2907792"/>
            <a:ext cx="258775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25"/>
          <p:cNvSpPr/>
          <p:nvPr/>
        </p:nvSpPr>
        <p:spPr>
          <a:xfrm>
            <a:off x="6108192" y="3044952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145536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620256" y="304495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Principes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6163056" y="3529584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sans état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LLM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par locataire</a:t>
            </a:r>
            <a:endParaRPr lang="en-US" sz="10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1488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clés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1325880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Guidage </a:t>
            </a:r>
            <a:r>
              <a:rPr lang="en-US" sz="1200" b="1" dirty="0" err="1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</a:t>
            </a: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 err="1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Surbrillance</a:t>
            </a: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info-bulle, flèche.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par introspection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Sélecteurs DOM réels — couverture sans configuration.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démonstration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Pas-à-pas, en lecture seule, confirmé à chaque étape.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documentation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 (notation serveur) ; RAG ancré + anti-hallucination.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signal en ≈ 0,2 s, jetons peints au fil de l'eau.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4846320" y="132588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83C98"/>
                </a:solidFill>
                <a:latin typeface="Calibri"/>
              </a:rPr>
              <a:t>Multilingue &amp; voix</a:t>
            </a:r>
          </a:p>
          <a:p>
            <a:r>
              <a:rPr sz="1200">
                <a:solidFill>
                  <a:srgbClr val="1A1C2E"/>
                </a:solidFill>
                <a:latin typeface="Calibri"/>
              </a:rPr>
              <a:t>Détection de la langue ; dictée et lecture vocale (Web Speech).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283C98"/>
                </a:solidFill>
                <a:latin typeface="Calibri"/>
              </a:rPr>
              <a:t>Suggestions proactives</a:t>
            </a:r>
          </a:p>
          <a:p>
            <a:r>
              <a:rPr sz="1200">
                <a:solidFill>
                  <a:srgbClr val="1A1C2E"/>
                </a:solidFill>
                <a:latin typeface="Calibri"/>
              </a:rPr>
              <a:t>Anticipe les besoins selon la navigation (PredictAgent).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283C98"/>
                </a:solidFill>
                <a:latin typeface="Calibri"/>
              </a:rPr>
              <a:t>Détection d'erreurs Odoo</a:t>
            </a:r>
          </a:p>
          <a:p>
            <a:r>
              <a:rPr sz="1200">
                <a:solidFill>
                  <a:srgbClr val="1A1C2E"/>
                </a:solidFill>
                <a:latin typeface="Calibri"/>
              </a:rPr>
              <a:t>Capte l'erreur affichée et propose un diagnostic ciblé.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283C98"/>
                </a:solidFill>
                <a:latin typeface="Calibri"/>
              </a:rPr>
              <a:t>Administration intégrée</a:t>
            </a:r>
          </a:p>
          <a:p>
            <a:r>
              <a:rPr sz="1200">
                <a:solidFill>
                  <a:srgbClr val="1A1C2E"/>
                </a:solidFill>
                <a:latin typeface="Calibri"/>
              </a:rPr>
              <a:t>Configuration, avatar, Insights et supervision des agents.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&amp; validation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58368" y="1481328"/>
            <a:ext cx="2404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289 / 294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04088" y="216712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pytest réussis (5 ignorés)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73552" y="1371600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364992" y="1481328"/>
            <a:ext cx="2404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9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410712" y="216712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 code (cœur &gt; 80 %)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1371600"/>
            <a:ext cx="2587752" cy="1371600"/>
          </a:xfrm>
          <a:prstGeom prst="roundRect">
            <a:avLst>
              <a:gd name="adj" fmla="val 5333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080760" y="1481328"/>
            <a:ext cx="2404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126480" y="216712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validés de bout en bout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6928" y="299923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modules de tests, appels LLM simulés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déterministe, rapide et sans coût d'API ; 5 613 instructions analysées.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continue (GitHub Actions)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éphémère + suite pytest + linter ruff ; aucune fusion si un test échoue.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flux fonctionnels (Playwright, navigateur réel)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guidage · formation QCM · mode démonstration · résolution d'erreur · récupération documentaire.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performance &amp; optimisations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25880"/>
            <a:ext cx="393192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49808" y="14538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· requêtes répétées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9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 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36008" y="1325880"/>
            <a:ext cx="393192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818888" y="14538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 · premier signal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818888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9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0,2 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6928" y="2679192"/>
            <a:ext cx="393192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49808" y="2807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Guidage déterministe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49808" y="3136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9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instantané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36008" y="2679192"/>
            <a:ext cx="393192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818888" y="2807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Disjoncteur LLM · robustesse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818888" y="3136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9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résilient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66928" y="4224528"/>
            <a:ext cx="8092440" cy="512064"/>
          </a:xfrm>
          <a:prstGeom prst="roundRect">
            <a:avLst>
              <a:gd name="adj" fmla="val 10714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49808" y="4224528"/>
            <a:ext cx="7726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Leviers :  </a:t>
            </a:r>
            <a:r>
              <a:rPr lang="en-US" sz="11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court-circuits heuristiques, cache Redis, inférence de guidage déterministe, synthèse LLM conditionnelle.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évaluation du pipeline RAG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1874520" cy="1298448"/>
          </a:xfrm>
          <a:prstGeom prst="roundRect">
            <a:avLst>
              <a:gd name="adj" fmla="val 5634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58368" y="1481328"/>
            <a:ext cx="169164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0,843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04088" y="2124700"/>
            <a:ext cx="1600200" cy="467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(globale)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874520" cy="1298448"/>
          </a:xfrm>
          <a:prstGeom prst="roundRect">
            <a:avLst>
              <a:gd name="adj" fmla="val 5634"/>
            </a:avLst>
          </a:prstGeom>
          <a:solidFill>
            <a:srgbClr val="EEF1FB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2651760" y="1481328"/>
            <a:ext cx="169164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9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0,973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697480" y="2124700"/>
            <a:ext cx="1600200" cy="467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(rang réciproque moyen)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6928" y="28163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</a:t>
            </a:r>
            <a:r>
              <a:rPr lang="en-US" sz="11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paires question → document, 12 modules, corpus de 4 405 segments ; translittération FR→EN, réordonnancement et seuil de pertinence.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384048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283C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15845" y="3840480"/>
            <a:ext cx="3685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0,75 atteint sur 11/12 modules. 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le CRM (0,667) reste sous le seuil → axe d'amélioration ciblé.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617720" y="1325880"/>
          <a:ext cx="4069080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4617720" y="459028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par module fonctionnel (12 modules)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8" name="Graphique 7" descr="Caméra vidéo avec un remplissage uni">
            <a:extLst>
              <a:ext uri="{FF2B5EF4-FFF2-40B4-BE49-F238E27FC236}">
                <a16:creationId xmlns:a16="http://schemas.microsoft.com/office/drawing/2014/main" id="{C1E36BFA-3768-6E49-F061-6DAD1BC510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514" y="420074"/>
            <a:ext cx="458300" cy="4583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254B71A-B325-C9AC-26B5-B81809AE8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409" y="932688"/>
            <a:ext cx="6485182" cy="3673158"/>
          </a:xfrm>
          <a:prstGeom prst="rect">
            <a:avLst/>
          </a:prstGeom>
        </p:spPr>
      </p:pic>
      <p:sp>
        <p:nvSpPr>
          <p:cNvPr id="3" name="Triangle isocèle 2">
            <a:extLst>
              <a:ext uri="{FF2B5EF4-FFF2-40B4-BE49-F238E27FC236}">
                <a16:creationId xmlns:a16="http://schemas.microsoft.com/office/drawing/2014/main" id="{5EF56D34-3CAF-C527-343D-2ED9BA9EB032}"/>
              </a:ext>
            </a:extLst>
          </p:cNvPr>
          <p:cNvSpPr/>
          <p:nvPr/>
        </p:nvSpPr>
        <p:spPr>
          <a:xfrm rot="5400000">
            <a:off x="3942414" y="2029834"/>
            <a:ext cx="1446550" cy="1401580"/>
          </a:xfrm>
          <a:prstGeom prst="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2516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&amp; limites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32588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49808" y="1481328"/>
            <a:ext cx="384048" cy="384048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156362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3584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86384" y="201168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objectifs atteints, 8 agents livrés</a:t>
            </a:r>
            <a:endParaRPr lang="en-US" sz="12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au cahier des charges</a:t>
            </a:r>
            <a:endParaRPr lang="en-US" sz="12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validé (P@5 0,843) ; 294 tests en CI</a:t>
            </a:r>
            <a:endParaRPr lang="en-US" sz="12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SSE, premier signal ≈ 0,2 s</a:t>
            </a:r>
            <a:endParaRPr lang="en-US" sz="12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durcie : ACLs, audit, rate-limit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36592" y="132588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BF6F2"/>
          </a:solidFill>
          <a:ln w="12700">
            <a:solidFill>
              <a:srgbClr val="EAD9CE"/>
            </a:solidFill>
            <a:prstDash val="solid"/>
          </a:ln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4919472" y="1481328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56362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1324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56048" y="201168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charge non testée (k6 / Locust)</a:t>
            </a:r>
            <a:endParaRPr lang="en-US" sz="12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: compatible, à certifier</a:t>
            </a:r>
            <a:endParaRPr lang="en-US" sz="12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sous l'objectif (0,667)</a:t>
            </a:r>
            <a:endParaRPr lang="en-US" sz="12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des QCM longue (8–15 s)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83C98"/>
          </a:solidFill>
          <a:ln/>
          <a:effectLst>
            <a:outerShdw blurRad="88900" dist="25400" dir="5400000" algn="bl" rotWithShape="0">
              <a:srgbClr val="8A91AD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48920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Soutenance de Projet de Fin d'Études — Université Ibn Tofaïl,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F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1298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16459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atteint : </a:t>
            </a: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fonctionnel, l'assistant Maxware.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passe d'un outil que l'on subit à un environnement qui </a:t>
            </a:r>
            <a:r>
              <a:rPr lang="en-US" sz="1250" b="1" dirty="0">
                <a:solidFill>
                  <a:srgbClr val="28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démontre et forme</a:t>
            </a: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découplée (C4), 8 agents LangGraph, RAG ancré et streaming SSE.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36592" y="1298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8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36592" y="1700784"/>
            <a:ext cx="365760" cy="365760"/>
          </a:xfrm>
          <a:prstGeom prst="ellipse">
            <a:avLst/>
          </a:prstGeom>
          <a:solidFill>
            <a:srgbClr val="EEF1FB"/>
          </a:solidFill>
          <a:ln w="13970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7830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65506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 Kubernetes en production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36592" y="2267712"/>
            <a:ext cx="365760" cy="365760"/>
          </a:xfrm>
          <a:prstGeom prst="ellipse">
            <a:avLst/>
          </a:prstGeom>
          <a:solidFill>
            <a:srgbClr val="EEF1FB"/>
          </a:solidFill>
          <a:ln w="13970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35000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222199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agentiques d'écriture (copilotage, sous ACLs)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36592" y="2834640"/>
            <a:ext cx="365760" cy="365760"/>
          </a:xfrm>
          <a:prstGeom prst="ellipse">
            <a:avLst/>
          </a:prstGeom>
          <a:solidFill>
            <a:srgbClr val="EEF1FB"/>
          </a:solidFill>
          <a:ln w="13970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91693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278892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UX (SUS) + tests de charge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736592" y="3401568"/>
            <a:ext cx="365760" cy="365760"/>
          </a:xfrm>
          <a:prstGeom prst="ellipse">
            <a:avLst/>
          </a:prstGeom>
          <a:solidFill>
            <a:srgbClr val="EEF1FB"/>
          </a:solidFill>
          <a:ln w="13970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483864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12080" y="335584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du corpus &amp; ré-ingestion continue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736592" y="3968496"/>
            <a:ext cx="365760" cy="365760"/>
          </a:xfrm>
          <a:prstGeom prst="ellipse">
            <a:avLst/>
          </a:prstGeom>
          <a:solidFill>
            <a:srgbClr val="EEF1FB"/>
          </a:solidFill>
          <a:ln w="13970">
            <a:solidFill>
              <a:srgbClr val="283C9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050792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12080" y="392277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à Slack / Teams ; voix avancée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uit_logo_whit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83280" y="868680"/>
            <a:ext cx="237744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AKKAOUI Adam  ·  Filière ISI  ·  Université Ibn Tofaïl — Maxware Technology  ·  2025–2026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[phone redacted]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2029D46-424A-4196-AD56-1E7C8745E96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3d798d9-4334-4a2d-b3f5-54a81327deb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2543</TotalTime>
  <Words>2790</Words>
  <Application>Microsoft Office PowerPoint</Application>
  <PresentationFormat>Affichage à l'écran (16:9)</PresentationFormat>
  <Paragraphs>325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PFE — Système Multi-Agent Intelligent pour Odoo</dc:title>
  <dc:subject>PptxGenJS Presentation</dc:subject>
  <dc:creator>EL AKKAOUI Adam</dc:creator>
  <cp:lastModifiedBy/>
  <cp:revision>21</cp:revision>
  <dcterms:created xsi:type="dcterms:W3CDTF">2026-06-20T19:00:49Z</dcterms:created>
  <dcterms:modified xsi:type="dcterms:W3CDTF">2026-07-29T00:28:24Z</dcterms:modified>
</cp:coreProperties>
</file>